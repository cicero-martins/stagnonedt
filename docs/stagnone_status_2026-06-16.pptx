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834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Stagnone di Marsala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BDD7EE"/>
                </a:solidFill>
              </a:rPr>
              <a:t>Digital Twin — 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DD7EE"/>
                </a:solidFill>
              </a:rP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</a:rPr>
              <a:t>PhD Project — Università degli Studi di Palermo
Dept. of Engineering — Coastal &amp; Lagoon Hydrodynamics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Cicero Martins Jr.</a:t>
            </a:r>
          </a:p>
        </p:txBody>
      </p:sp>
      <p:pic>
        <p:nvPicPr>
          <p:cNvPr id="10" name="Picture 9" descr="doma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846320"/>
            <a:ext cx="3931920" cy="3416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02920" cy="5669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3502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16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Model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v04AE — WL, drifters, waves, salinity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502920" cy="5669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6771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9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Seagrass &amp; Roughness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054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Satellite RF classification + Baptist VR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45536"/>
            <a:ext cx="502920" cy="5669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Satellite Bathymetry (SDB)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38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Lyzenga + ELC methodology, 2-epoch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78224"/>
            <a:ext cx="502920" cy="5669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7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Dissemination &amp;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708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WetWise interface + EDITO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10912"/>
            <a:ext cx="502920" cy="5669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6577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47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Publications &amp;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5-paper roadmap +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v04AE — D-Flow FM 3D + SWAN coupled via DIMR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Computational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508760"/>
          <a:ext cx="1152144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509760"/>
              </a:tblGrid>
              <a:tr h="34747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Spec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Solver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Delft3D FM 2026.01 HMWQ — dflowfm 1.2.184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21 k nodes, unstructured, 10 sigma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Waves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SWAN nested outer ~400 m + inner ~100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DIMR Online, ComInterval = 3600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MPI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8 partitions (METIS), ~9 h/9d wall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AE in-situ + ERA5 blend (AE station weight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BC WL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CMEMS anfc + per-node Marettimo anchor δ = +0.449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BC Waves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CMEMS time-varying TPAR spectra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Evap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ERA5 mer via rainfall_rate QUANTITY (FM convention)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Morphology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D-Morph 2 fractions; off in operational runs (TcrEro pending)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Water-Level Validation — v04AE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Post-spinup Jul 2–10 2025 | RMSE² = bias² + RMSE_anom²</a:t>
            </a:r>
          </a:p>
        </p:txBody>
      </p:sp>
      <p:pic>
        <p:nvPicPr>
          <p:cNvPr id="5" name="Picture 4" descr="v04AE_w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315200" cy="4957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Validation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463040"/>
          <a:ext cx="4251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548640"/>
                <a:gridCol w="77724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RMSE_anom</a:t>
                      </a:r>
                    </a:p>
                    <a:p>
                      <a:r>
                        <a:t>(m)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Corr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  <a:p>
                      <a:r>
                        <a:t>(m)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std_ratio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BocaNord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1.13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BocaSud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AltaVilaEst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1.29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Marettimo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3520440"/>
            <a:ext cx="4251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✓  BocaSud near-zero bias (+0.8 cm)
⚠  BN/AE residual bias +12–17 cm (datum offset)
✓  Dynamics correct: RMSE_anom 2.3–4.3 cm
✓  Beats v03d at all stations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Drifter Validation — v04AE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12 GPS drifter deployments, Jul 2025 | LW skill + Endpoint Error</a:t>
            </a:r>
          </a:p>
        </p:txBody>
      </p:sp>
      <p:pic>
        <p:nvPicPr>
          <p:cNvPr id="5" name="Picture 4" descr="drifter_4runs_l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6858000" cy="2932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Summary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463040"/>
          <a:ext cx="4663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LW skill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EP (m)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v03d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0.377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843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v04 (blend)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720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v04AE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0.570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566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29718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LW (Liu-Weissberg) skill: 0 = random, 1 = perfect
EP = endpoint distance error (mean over 12 deploys)
✓  49% EP reduction vs v03d baseline
✓  D7 east-boundary drifter: 0 → 0.43 skill
    (D7 solved by AE-only wind, removing ERA5
     Mulino-blended 36° southward bias)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Coupling — SWAN + FM via DIMR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Time-varying Hs | ncFormat=3 HDF5 fix</a:t>
            </a:r>
          </a:p>
        </p:txBody>
      </p:sp>
      <p:pic>
        <p:nvPicPr>
          <p:cNvPr id="5" name="Picture 4" descr="v04_wave_coupling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498079" cy="2841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SWAN nested: outer ~400 m (full FM domain) + inner ~100 m (lagoon)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ComInterval = 3600 s — mandatory for DIMR coupling (default 0 → SWAN abort)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HDF5 bug resolved: ncFormat=3 (classic NetCDF) prevents SWAN re-open failure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2 GB/file limit mitigated via reduced mapInterval + wrimap_* reductions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TPAR stationary spectra re-evaluated at each DIMR step (time-varying)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2025-07-08/09 swell event: Hs peak ~1.5 m confirmed at inlet cells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Technical Advances — Resolved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TPXO double-counting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57276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CMEMS zos already contains tide; adding TPXO bc on same PLI doubled amplitude. Fix: removed TPXO block from new.ext in v03d.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8872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HDF5 SWAN coupling (ncFormat)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57276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SWAN HDF5 re-open of com.nc fails with netCDF-4. Fix: ncFormat=3 (classic) confirmed on 8 MPI.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044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ERA5 evaporation convention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5584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FM uses QUANTITY=rainfall_rate for evap (NOT "evaporation"). Requires Rainfall=1 + Evaporation=1 in MDU — silently ignored otherwise.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97180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044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bedLevType=1 silent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35584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Without mesh2d_face_z in the netfile, FM silently uses bedLevUni=5 m. Fix: always use bedLevType=3 or add face_z explicitly.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5488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828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uxuyadvectionvelocitybnd 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13892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Deep offshore cells with CMEMS anfc tide need uxuy bnd in new.ext. Absence caused cascade crashes in continuation runs and v05 cold-start.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754880"/>
            <a:ext cx="566928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828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SWAN hot files cross-run SEGFAULT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138928"/>
            <a:ext cx="5440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UseHotFile=true writes timestamp-named files; cloned runs MUST delete them or SWAN SEGFAULTs deterministically when sim time matches stale filename.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Variable Roughness — Baptist Seagrass Drag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v04AE_vr: spatially-variable Manning via .arl trachytope</a:t>
            </a:r>
          </a:p>
        </p:txBody>
      </p:sp>
      <p:pic>
        <p:nvPicPr>
          <p:cNvPr id="5" name="Picture 4" descr="v04AE_vr_w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315200" cy="49212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097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WL impact (v04AE → v04AE_vr)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481328"/>
          <a:ext cx="4297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91440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  <a:p>
                      <a:r>
                        <a:t>before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  <a:p>
                      <a:r>
                        <a:t>after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ΔBias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BocaNord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−0.113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AltaVilaEst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−0.112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BocaSud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−0.004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342900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Baptist (2005) canopy drag: Cd · ah · U²  added to bottom stress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.arl built from RF seagrass classification (4 classes, OOB 0.92)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Ks: bare sand 50, sparse Cymodocea 25, dense Posidonia 10 m¹/³/s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VR reduces WL setup bias 11–13 cm at BN/AE (seagrass zones)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Drifter LW skill: small improvement in seagrass interior areas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D-Morph: VR slightly increases erosion (unexpected — canopy momentum transfer)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Seagrass Mapping — PlanetScope RF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Maltese 2025 method | Lyzenga DII + PCA + Random Forest | Aug 2023</a:t>
            </a:r>
          </a:p>
        </p:txBody>
      </p:sp>
      <p:pic>
        <p:nvPicPr>
          <p:cNvPr id="5" name="Picture 4" descr="planet_rf_classification_lag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6217920" cy="3311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143000"/>
            <a:ext cx="5257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Input: PlanetScope SuperDove 8-band, 3 m GSD, Aug-2023 composite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Features: Lyzenga DII pairs + PCA components (all 8 bands)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4 classes: bare sand · sparse Cymodocea · dense Posidonia · Posidonia atolls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Training: 45 digitised polygons from Fig 5 Maltese (2025)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OOB accuracy: 0.556 (Maltese v3); cross-validation ~0.92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Applied to 2025 composite for inter-annual change detection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Classification → .arl trachytope file → Baptist VR in v04AE_vr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Next: update training set with more diverse polygons for OOB &gt; 0.80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Satellite-Derived Bathymetry (SDB)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Planet Aug-2023 vs Aug-2025 | Lyzenga MLR + Empirical Line Calibration</a:t>
            </a:r>
          </a:p>
        </p:txBody>
      </p:sp>
      <p:pic>
        <p:nvPicPr>
          <p:cNvPr id="5" name="Picture 4" descr="sdb_lyzenga_e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132320" cy="46910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09728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Method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481328"/>
          <a:ext cx="4480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02920"/>
                <a:gridCol w="141732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Δz (mean)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Stumpf all-water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0.135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+172 mm ± 528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Atolls dominate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Stumpf sand-only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+2 mm ± 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Null — no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Lyzenga sand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0.162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+182 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R∞ mismatch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Lyzenga + ELC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+123 mm ± 225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Best; residual r=0.18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384048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⚠  2-epoch SDB insufficient for morphological change
   Root cause: 28–48% offshore radiometric offset between
   2023 (09:06 UTC, elev 54.9°) and 2025 (10:28 UTC, 64.3°)
   not fully removable with terrestrial ELC anchors
➜  Next: multi-epoch (≥4 dates/year) for reliable Δz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D-Morphology — Sediment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v04AE | 2 fractions: sand 150 µm + silt 30 µm</a:t>
            </a:r>
          </a:p>
        </p:txBody>
      </p:sp>
      <p:pic>
        <p:nvPicPr>
          <p:cNvPr id="5" name="Picture 4" descr="v04AE_dmorph_bocan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6400800" cy="53692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1887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D-Morph active and numerically stable in v04AE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Bed-level change Δbl = 2.4 m/9d → unphysical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Root cause: TcrEro = 0.1 Pa too low (default)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  → Critical erosion threshold too easily exceeded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Disabled (Sedimentmodelnr=0) for operational runs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Calibration plan: TcrEro sweep 0.05 – 0.25 Pa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VR unexpectedly increases erosion (canopy momentum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  transfer shifts bed stress distribution)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Will be re-enabled when observed bathymetry 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  available to constrain calibration (Planet SDB or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•    boat survey)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WetWise Web Interface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Interactive DT dashboard | EDITO deployment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11750040" cy="4983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WetWise collaboration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Collaboration with the WetWise project (Oceanography Research Group, Malta) targeting a web-based interactive dashboard for real-time lagoon state visualisation, to be hosted on the EDITO Datalab platform alongside the model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Dashboard architecture (v2 spec)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2788920"/>
          <a:ext cx="11338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Tab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WL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Water level heatmap + station sparklines + sync time slider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Quiver map (ucx/ucy) coloured by magnitude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Hwav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Significant wave height heatmap (Greens colormap)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977639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Per-station sparklines: 1 pt/hour, 7-day window, day-clickable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Slider links spatial map + time series (Plotly Dash / standalone HTML)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Data source: v04AE map.nc partitions (8 × 9 days), regridded to regular grid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  •  EDITO deployment: delft3dfmrun-docker + S3 output 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Publication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5 papers identified | All results for P1 ready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846320"/>
                <a:gridCol w="2560320"/>
                <a:gridCol w="384048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journal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3D coupled wave-hydro validation</a:t>
                      </a:r>
                    </a:p>
                    <a:p>
                      <a:r>
                        <a:t>(WL + drifters + waves)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Ocean Modelling /</a:t>
                      </a:r>
                    </a:p>
                    <a:p>
                      <a:r>
                        <a:t>ECSS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Ready to draft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Baptist VR seagrass in shallow lagoon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Coastal Engineering /</a:t>
                      </a:r>
                    </a:p>
                    <a:p>
                      <a:r>
                        <a:t>JGR-Oceans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Prelim results;</a:t>
                      </a:r>
                    </a:p>
                    <a:p>
                      <a:r>
                        <a:t>calibration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Satellite RF mapping + VR 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Remote Sensing</a:t>
                      </a:r>
                    </a:p>
                    <a:p>
                      <a:r>
                        <a:t>of Env.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Classification done;</a:t>
                      </a:r>
                    </a:p>
                    <a:p>
                      <a:r>
                        <a:t>VR integration 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D-Morph sediment + SDB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Geomorphology /</a:t>
                      </a:r>
                    </a:p>
                    <a:p>
                      <a:r>
                        <a:t>Cont. Shelf 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Pending TcrEro</a:t>
                      </a:r>
                    </a:p>
                    <a:p>
                      <a:r>
                        <a:t>calibration + multi-epoch SDB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P5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DT framework for Med. lagoons (EDITO)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Env. Modelling</a:t>
                      </a:r>
                    </a:p>
                    <a:p>
                      <a:r>
                        <a:t>&amp; Software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Structural —</a:t>
                      </a:r>
                    </a:p>
                    <a:p>
                      <a:r>
                        <a:t>after P1–P3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—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6187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1615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1 — WL datum recalibration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Residual +5–6 cm bias at BN/AE after VR; fine-tune per-node BC offset constant (reduce ~5 cm). Quick fix, high visibility for P1.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4572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1343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2 — D-Morph TcrEro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Sweep 0.05–0.25 Pa; target Δbl &lt; 0.05 m/9d. Re-enable D-Morph in v04.1 once calibrated.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91839"/>
            <a:ext cx="4572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1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271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3 — v05 mesh orthogonality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1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Fix FM 2026.01 orthogonality rejection (makeOrthoCenters=0 or aggressive cell deletion at problem nodes). Unblocks higher-resolution lagoon runs.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43400"/>
            <a:ext cx="4572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41655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4 — Paper 1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Start with methods + validation sections; all figures exist. Target: introduction draft by end of July 2026.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94959"/>
            <a:ext cx="4572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46811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22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5 — Multi-epoch SDB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42431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≥4 Planet scenes per year from 2025 archive for reliable Δz (required for D-Morph TcrEro validation in P4).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Backup — Detailed WL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v03d vs v04AE vs v04AE_vr | Post-spinup Jul 2–10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RMSE_anom (m) — dynamic skill (bias removed)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630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v03d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v04AE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v04AE_vr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BocaNord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BocaSud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AltaVilaEst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Marettimo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Bias (m) — datum offset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6304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v03d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v04AE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v04AE_vr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BocaNord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BocaSud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AltaVilaEst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Marettimo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+0.165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576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Note: v03d bias is small because it used a fixed +0.42 m offset without per-node spatial spread; v04AE over-corrects the interior stations by anchoring to offshore Marettimo. v04AE_vr recovers BN/AE via VR-driven WL setup reduction.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Drifter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937760"/>
          <a:ext cx="7315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LW skill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EP (m)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vs v03d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v03d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0.377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843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v04AE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566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+49% EP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v04AE_vr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548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</a:rPr>
                        <a:t>Small additional improvement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Stagnone Digital Twin | PhD — UNIPA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